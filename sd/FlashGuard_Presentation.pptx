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8ee97db-3225-3a76-11de-07f79d64af78}">
          <p14:sldIdLst>
            <p14:sldId id="256"/>
            <p14:sldId id="257"/>
          </p14:sldIdLst>
        </p14:section>
        <p14:section name="Architecture &amp; Design" id="{b93b8cd8-cdaf-b0d4-325a-b5033fa45831}">
          <p14:sldIdLst>
            <p14:sldId id="258"/>
            <p14:sldId id="259"/>
          </p14:sldIdLst>
        </p14:section>
        <p14:section name="Correctness" id="{b3cda343-190c-a3e9-e7cf-a26e5face4fb}">
          <p14:sldIdLst>
            <p14:sldId id="260"/>
            <p14:sldId id="261"/>
            <p14:sldId id="262"/>
          </p14:sldIdLst>
        </p14:section>
        <p14:section name="Operations" id="{bb51a0b3-d665-4aba-c6c8-f723f6b3656c}">
          <p14:sldIdLst>
            <p14:sldId id="263"/>
            <p14:sldId id="264"/>
          </p14:sldIdLst>
        </p14:section>
        <p14:section name="Wrap-up" id="{854908fc-c82a-4ea8-c1ed-1e4dde2b04b8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FlashGuard is a design-first flash-sale system. The one problem it solves: 10,000 simultaneous buyers competing for 100 units, with zero overselling.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contention challenge, then the four ideas that answer it. Requirements summarised at the bottom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request journey left to right. Traffic layer absorbs the burst; business layer decides who gets a unit. Supporting infrastructure sits underneath.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HLD explains the architecture, LLD explains how components interact internally, UML models make both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invariant is the heart of the project: every state change must keep AVAILABLE + RESERVED + SOLD equal to TOTAL STOCK. Overselling = 0 is the primary correctness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state machines, then the idempotency key. Duplicate requests collapse into a single transaction.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sequence diagrams cover success, failure and edge cases. Every failure follows the same recovery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Scalability handles the burst, security protects the flow, observability proves it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simulation proves the guarantee: 10,000 customers, 100 units. The Command Center is an engineering console, not an e-commerce admin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what is implemented versus simulated. Close on the zero-oversell guarantee and label the roadmap as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SALESTORM · FlashGuard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83080"/>
            <a:ext cx="6400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tx2"/>
                </a:solidFill>
              </a:rPr>
              <a:t>SALESTORM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7830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chemeClr val="tx1"/>
                </a:solidFill>
              </a:rPr>
              <a:t>FlashGuard</a:t>
            </a:r>
            <a:endParaRPr lang="en-US" sz="6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10,000 Buyers. 100 Units. Zero Overselling.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776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design-first flash-sale system built to stay correct under extreme concurrency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0292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System Design Hackathon  ·  Technical Documentation Deck</a:t>
            </a:r>
            <a:endParaRPr lang="en-US" sz="1400" dirty="0"/>
          </a:p>
        </p:txBody>
      </p:sp>
      <p:sp>
        <p:nvSpPr>
          <p:cNvPr id="7" name="stat card"/>
          <p:cNvSpPr/>
          <p:nvPr/>
        </p:nvSpPr>
        <p:spPr>
          <a:xfrm>
            <a:off x="7315200" y="1234440"/>
            <a:ext cx="4297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0" y="1234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9692640" y="12344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simultaneous buyers</a:t>
            </a:r>
            <a:endParaRPr lang="en-US" sz="1600" dirty="0"/>
          </a:p>
        </p:txBody>
      </p:sp>
      <p:sp>
        <p:nvSpPr>
          <p:cNvPr id="10" name="stat card"/>
          <p:cNvSpPr/>
          <p:nvPr/>
        </p:nvSpPr>
        <p:spPr>
          <a:xfrm>
            <a:off x="7315200" y="2788920"/>
            <a:ext cx="4297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0" y="27889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0" y="27889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units available</a:t>
            </a:r>
            <a:endParaRPr lang="en-US" sz="1600" dirty="0"/>
          </a:p>
        </p:txBody>
      </p:sp>
      <p:sp>
        <p:nvSpPr>
          <p:cNvPr id="13" name="stat card"/>
          <p:cNvSpPr/>
          <p:nvPr/>
        </p:nvSpPr>
        <p:spPr>
          <a:xfrm>
            <a:off x="7315200" y="4343400"/>
            <a:ext cx="4297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0" y="4343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9692640" y="4343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overselling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Problem &amp; Our Approach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0" y="457200"/>
            <a:ext cx="1581912" cy="365760"/>
          </a:xfrm>
          <a:prstGeom prst="roundRect">
            <a:avLst>
              <a:gd name="adj" fmla="val 25000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Ch. 1–4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5394960" cy="640080"/>
          </a:xfrm>
          <a:prstGeom prst="roundRect">
            <a:avLst>
              <a:gd name="adj" fmla="val 14286"/>
            </a:avLst>
          </a:prstGeom>
          <a:solidFill>
            <a:schemeClr val="accent1">
              <a:alpha val="40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10,000 simultaneous purchase requests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108960" y="2130552"/>
            <a:ext cx="274320" cy="365760"/>
          </a:xfrm>
          <a:prstGeom prst="downArrow">
            <a:avLst/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965960" y="2606040"/>
            <a:ext cx="2560320" cy="640080"/>
          </a:xfrm>
          <a:prstGeom prst="roundRect">
            <a:avLst>
              <a:gd name="adj" fmla="val 14286"/>
            </a:avLst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100 units</a:t>
            </a:r>
            <a:endParaRPr lang="en-US" sz="1800" dirty="0"/>
          </a:p>
        </p:txBody>
      </p:sp>
      <p:sp>
        <p:nvSpPr>
          <p:cNvPr id="8" name="challenge card"/>
          <p:cNvSpPr/>
          <p:nvPr/>
        </p:nvSpPr>
        <p:spPr>
          <a:xfrm>
            <a:off x="548640" y="347472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accent3">
              <a:alpha val="2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584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THE CORE CHALLENGE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8862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can 10,000 buyers safely compete for 100 units without overselling, duplicate reservations, payments or orders?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029200"/>
            <a:ext cx="2606040" cy="457200"/>
          </a:xfrm>
          <a:prstGeom prst="roundRect">
            <a:avLst>
              <a:gd name="adj" fmla="val 20000"/>
            </a:avLst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Zero overselling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337560" y="5029200"/>
            <a:ext cx="2606040" cy="457200"/>
          </a:xfrm>
          <a:prstGeom prst="roundRect">
            <a:avLst>
              <a:gd name="adj" fmla="val 20000"/>
            </a:avLst>
          </a:prstGeom>
          <a:solidFill>
            <a:schemeClr val="accent1">
              <a:alpha val="30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Zero duplicate payments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596128"/>
            <a:ext cx="2606040" cy="457200"/>
          </a:xfrm>
          <a:prstGeom prst="roundRect">
            <a:avLst>
              <a:gd name="adj" fmla="val 20000"/>
            </a:avLst>
          </a:prstGeom>
          <a:solidFill>
            <a:schemeClr val="accent4">
              <a:alpha val="30000"/>
            </a:schemeClr>
          </a:solidFill>
          <a:ln w="12700"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Zero duplicate orders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337560" y="5596128"/>
            <a:ext cx="2606040" cy="457200"/>
          </a:xfrm>
          <a:prstGeom prst="roundRect">
            <a:avLst>
              <a:gd name="adj" fmla="val 20000"/>
            </a:avLst>
          </a:prstGeom>
          <a:solidFill>
            <a:schemeClr val="accent5">
              <a:alpha val="30000"/>
            </a:schemeClr>
          </a:solidFill>
          <a:ln w="12700">
            <a:solidFill>
              <a:schemeClr val="accent5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Reliable recovery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309360" y="194767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084832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040880" y="18745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Reserve first, then pay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Atomic reservation with expiry keeps stock exact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309360" y="26974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83464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040880" y="26243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Idempotent by design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Duplicate requests → one transaction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309360" y="3447288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58444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40880" y="337413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Recover, don't lose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Retry, queue, DLQ, compensation, reconciliation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309360" y="419709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3425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040880" y="412394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Observable end-to-end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Metrics, logs, traces and a live Command Center</a:t>
            </a:r>
            <a:endParaRPr lang="en-US" sz="1600" dirty="0"/>
          </a:p>
        </p:txBody>
      </p:sp>
      <p:sp>
        <p:nvSpPr>
          <p:cNvPr id="28" name="requirements card"/>
          <p:cNvSpPr/>
          <p:nvPr/>
        </p:nvSpPr>
        <p:spPr>
          <a:xfrm>
            <a:off x="6309360" y="4983480"/>
            <a:ext cx="2587752" cy="1188720"/>
          </a:xfrm>
          <a:prstGeom prst="roundRect">
            <a:avLst>
              <a:gd name="adj" fmla="val 9231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446520" y="5056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Functional requirements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6446520" y="5349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Flash-sale access, Buy Now, reservation, payment, order tracking</a:t>
            </a:r>
            <a:endParaRPr lang="en-US" sz="1300" dirty="0"/>
          </a:p>
        </p:txBody>
      </p:sp>
      <p:sp>
        <p:nvSpPr>
          <p:cNvPr id="31" name="requirements card"/>
          <p:cNvSpPr/>
          <p:nvPr/>
        </p:nvSpPr>
        <p:spPr>
          <a:xfrm>
            <a:off x="9052560" y="4983480"/>
            <a:ext cx="2587752" cy="1188720"/>
          </a:xfrm>
          <a:prstGeom prst="roundRect">
            <a:avLst>
              <a:gd name="adj" fmla="val 9231"/>
            </a:avLst>
          </a:prstGeom>
          <a:solidFill>
            <a:schemeClr val="accent5">
              <a:alpha val="2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189720" y="5056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Non-functional requirements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9189720" y="5349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Consistency, scalability, reliability, observability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System Architecture &amp; Blueprint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0" y="457200"/>
            <a:ext cx="1581912" cy="365760"/>
          </a:xfrm>
          <a:prstGeom prst="roundRect">
            <a:avLst>
              <a:gd name="adj" fmla="val 25000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Ch. 5–7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TRAFFIC LAYER  ·  absorbs and shapes the burst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828800" cy="777240"/>
          </a:xfrm>
          <a:prstGeom prst="roundRect">
            <a:avLst>
              <a:gd name="adj" fmla="val 11765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Users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468880" y="1901952"/>
            <a:ext cx="301752" cy="22860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62072" y="1627632"/>
            <a:ext cx="1828800" cy="777240"/>
          </a:xfrm>
          <a:prstGeom prst="roundRect">
            <a:avLst>
              <a:gd name="adj" fmla="val 11765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CDN / WAF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82312" y="1901952"/>
            <a:ext cx="301752" cy="22860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175504" y="1627632"/>
            <a:ext cx="1828800" cy="777240"/>
          </a:xfrm>
          <a:prstGeom prst="roundRect">
            <a:avLst>
              <a:gd name="adj" fmla="val 11765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Load Balancer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095744" y="1901952"/>
            <a:ext cx="301752" cy="22860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88936" y="1627632"/>
            <a:ext cx="1828800" cy="777240"/>
          </a:xfrm>
          <a:prstGeom prst="roundRect">
            <a:avLst>
              <a:gd name="adj" fmla="val 11765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API Gateway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409176" y="1901952"/>
            <a:ext cx="301752" cy="22860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802368" y="1627632"/>
            <a:ext cx="1828800" cy="777240"/>
          </a:xfrm>
          <a:prstGeom prst="roundRect">
            <a:avLst>
              <a:gd name="adj" fmla="val 11765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Traffic Controller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479024" y="2487168"/>
            <a:ext cx="274320" cy="347472"/>
          </a:xfrm>
          <a:prstGeom prst="downArrow">
            <a:avLst/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BUSINESS LAYER  ·  decides who gets a unit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273552"/>
            <a:ext cx="1508760" cy="914400"/>
          </a:xfrm>
          <a:prstGeom prst="roundRect">
            <a:avLst>
              <a:gd name="adj" fmla="val 10000"/>
            </a:avLst>
          </a:prstGeom>
          <a:solidFill>
            <a:schemeClr val="accent2">
              <a:alpha val="40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Product / Cart / Sale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103120" y="3621024"/>
            <a:ext cx="256032" cy="219456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465222" y="3273552"/>
            <a:ext cx="1508760" cy="914400"/>
          </a:xfrm>
          <a:prstGeom prst="roundRect">
            <a:avLst>
              <a:gd name="adj" fmla="val 10000"/>
            </a:avLst>
          </a:prstGeom>
          <a:solidFill>
            <a:schemeClr val="accent2">
              <a:alpha val="40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Inventory / Reservation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019702" y="3621024"/>
            <a:ext cx="256032" cy="219456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381805" y="3273552"/>
            <a:ext cx="1508760" cy="914400"/>
          </a:xfrm>
          <a:prstGeom prst="roundRect">
            <a:avLst>
              <a:gd name="adj" fmla="val 10000"/>
            </a:avLst>
          </a:prstGeom>
          <a:solidFill>
            <a:schemeClr val="accent2">
              <a:alpha val="40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Checkout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936285" y="3621024"/>
            <a:ext cx="256032" cy="219456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98387" y="3273552"/>
            <a:ext cx="1508760" cy="914400"/>
          </a:xfrm>
          <a:prstGeom prst="roundRect">
            <a:avLst>
              <a:gd name="adj" fmla="val 10000"/>
            </a:avLst>
          </a:prstGeom>
          <a:solidFill>
            <a:schemeClr val="accent2">
              <a:alpha val="40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Payment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852867" y="3621024"/>
            <a:ext cx="256032" cy="219456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214970" y="3273552"/>
            <a:ext cx="1508760" cy="914400"/>
          </a:xfrm>
          <a:prstGeom prst="roundRect">
            <a:avLst>
              <a:gd name="adj" fmla="val 10000"/>
            </a:avLst>
          </a:prstGeom>
          <a:solidFill>
            <a:schemeClr val="accent2">
              <a:alpha val="40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Order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769450" y="3621024"/>
            <a:ext cx="256032" cy="219456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131552" y="3273552"/>
            <a:ext cx="1508760" cy="914400"/>
          </a:xfrm>
          <a:prstGeom prst="roundRect">
            <a:avLst>
              <a:gd name="adj" fmla="val 10000"/>
            </a:avLst>
          </a:prstGeom>
          <a:solidFill>
            <a:schemeClr val="accent2">
              <a:alpha val="40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Shipment / Notification</a:t>
            </a:r>
            <a:endParaRPr lang="en-US" sz="1400" dirty="0"/>
          </a:p>
        </p:txBody>
      </p:sp>
      <p:sp>
        <p:nvSpPr>
          <p:cNvPr id="28" name="support card"/>
          <p:cNvSpPr/>
          <p:nvPr/>
        </p:nvSpPr>
        <p:spPr>
          <a:xfrm>
            <a:off x="548640" y="457200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accent4">
              <a:alpha val="2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messaging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5166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Redis · PostgreSQL · Message Broker</a:t>
            </a:r>
            <a:endParaRPr lang="en-US" sz="1500" dirty="0"/>
          </a:p>
        </p:txBody>
      </p:sp>
      <p:sp>
        <p:nvSpPr>
          <p:cNvPr id="31" name="support card"/>
          <p:cNvSpPr/>
          <p:nvPr/>
        </p:nvSpPr>
        <p:spPr>
          <a:xfrm>
            <a:off x="4311396" y="457200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accent5">
              <a:alpha val="2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39996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plane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4539996" y="5166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Monitoring · Logging · Distributed Tracing</a:t>
            </a:r>
            <a:endParaRPr lang="en-US" sz="1500" dirty="0"/>
          </a:p>
        </p:txBody>
      </p:sp>
      <p:sp>
        <p:nvSpPr>
          <p:cNvPr id="34" name="support card"/>
          <p:cNvSpPr/>
          <p:nvPr/>
        </p:nvSpPr>
        <p:spPr>
          <a:xfrm>
            <a:off x="8074152" y="457200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302752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Resilience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8302752" y="5166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Retry Queue · Dead Letter Queue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Design: HLD, LLD &amp; UML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0" y="457200"/>
            <a:ext cx="1581912" cy="365760"/>
          </a:xfrm>
          <a:prstGeom prst="roundRect">
            <a:avLst>
              <a:gd name="adj" fmla="val 25000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Ch. 6, 8, 9</a:t>
            </a:r>
            <a:endParaRPr lang="en-US" sz="1200" dirty="0"/>
          </a:p>
        </p:txBody>
      </p:sp>
      <p:sp>
        <p:nvSpPr>
          <p:cNvPr id="5" name="design card"/>
          <p:cNvSpPr/>
          <p:nvPr/>
        </p:nvSpPr>
        <p:spPr>
          <a:xfrm>
            <a:off x="548640" y="1417320"/>
            <a:ext cx="3566160" cy="4617720"/>
          </a:xfrm>
          <a:prstGeom prst="roundRect">
            <a:avLst>
              <a:gd name="adj" fmla="val 3077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059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24231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Design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8529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What the system is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29184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Major services and their boundaries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Sync path: gateway → inventory → payment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Async path: broker → retry → order recovery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External systems and scaling strategy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Architectural failure handling</a:t>
            </a:r>
            <a:endParaRPr lang="en-US" sz="1500" dirty="0"/>
          </a:p>
        </p:txBody>
      </p:sp>
      <p:sp>
        <p:nvSpPr>
          <p:cNvPr id="11" name="design card"/>
          <p:cNvSpPr/>
          <p:nvPr/>
        </p:nvSpPr>
        <p:spPr>
          <a:xfrm>
            <a:off x="4311396" y="1417320"/>
            <a:ext cx="3566160" cy="4617720"/>
          </a:xfrm>
          <a:prstGeom prst="roundRect">
            <a:avLst>
              <a:gd name="adj" fmla="val 3077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85716" y="1645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18059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85716" y="24231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Low-Level Design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4585716" y="28529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How it works inside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585716" y="329184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Controllers → Services → Repositories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Inventory, Reservation, Payment, Order services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Simulation Engine and event handlers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Idempotency, locking, atomic updates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Exception handling</a:t>
            </a:r>
            <a:endParaRPr lang="en-US" sz="1500" dirty="0"/>
          </a:p>
        </p:txBody>
      </p:sp>
      <p:sp>
        <p:nvSpPr>
          <p:cNvPr id="17" name="design card"/>
          <p:cNvSpPr/>
          <p:nvPr/>
        </p:nvSpPr>
        <p:spPr>
          <a:xfrm>
            <a:off x="8074152" y="1417320"/>
            <a:ext cx="3566160" cy="4617720"/>
          </a:xfrm>
          <a:prstGeom prst="roundRect">
            <a:avLst>
              <a:gd name="adj" fmla="val 3077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48472" y="16459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492" y="180594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348472" y="24231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&amp; Design Models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8348472" y="28529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How we model it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348472" y="329184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 case and class diagrams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Component and deployment diagrams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Activity and state diagrams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Mermaid-compatible structure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diagram has a stated purpose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Concurrency &amp; Inventory Consistency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0" y="457200"/>
            <a:ext cx="1581912" cy="365760"/>
          </a:xfrm>
          <a:prstGeom prst="roundRect">
            <a:avLst>
              <a:gd name="adj" fmla="val 25000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Ch. 11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THE INVENTORY INVARIANT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051560" cy="777240"/>
          </a:xfrm>
          <a:prstGeom prst="roundRect">
            <a:avLst>
              <a:gd name="adj" fmla="val 11765"/>
            </a:avLst>
          </a:prstGeom>
          <a:solidFill>
            <a:schemeClr val="accent2">
              <a:alpha val="45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AVAILABLE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737360"/>
            <a:ext cx="301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+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901952" y="1737360"/>
            <a:ext cx="1051560" cy="777240"/>
          </a:xfrm>
          <a:prstGeom prst="roundRect">
            <a:avLst>
              <a:gd name="adj" fmla="val 11765"/>
            </a:avLst>
          </a:prstGeom>
          <a:solidFill>
            <a:schemeClr val="accent4">
              <a:alpha val="45000"/>
            </a:schemeClr>
          </a:solidFill>
          <a:ln w="12700"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RESERVED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953512" y="1737360"/>
            <a:ext cx="301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+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255264" y="1737360"/>
            <a:ext cx="1051560" cy="777240"/>
          </a:xfrm>
          <a:prstGeom prst="roundRect">
            <a:avLst>
              <a:gd name="adj" fmla="val 11765"/>
            </a:avLst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SOLD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306824" y="1737360"/>
            <a:ext cx="301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=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608576" y="1737360"/>
            <a:ext cx="1051560" cy="777240"/>
          </a:xfrm>
          <a:prstGeom prst="roundRect">
            <a:avLst>
              <a:gd name="adj" fmla="val 11765"/>
            </a:avLst>
          </a:prstGeom>
          <a:solidFill>
            <a:schemeClr val="accent5">
              <a:alpha val="45000"/>
            </a:schemeClr>
          </a:solidFill>
          <a:ln w="12700">
            <a:solidFill>
              <a:schemeClr val="accent5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TOTAL STOCK</a:t>
            </a:r>
            <a:endParaRPr lang="en-US" sz="1300" dirty="0"/>
          </a:p>
        </p:txBody>
      </p:sp>
      <p:sp>
        <p:nvSpPr>
          <p:cNvPr id="13" name="goal card"/>
          <p:cNvSpPr/>
          <p:nvPr/>
        </p:nvSpPr>
        <p:spPr>
          <a:xfrm>
            <a:off x="548640" y="2834640"/>
            <a:ext cx="5120640" cy="1463040"/>
          </a:xfrm>
          <a:prstGeom prst="roundRect">
            <a:avLst>
              <a:gd name="adj" fmla="val 7500"/>
            </a:avLst>
          </a:prstGeom>
          <a:solidFill>
            <a:schemeClr val="accent3">
              <a:alpha val="2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9718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Overselling = 0</a:t>
            </a:r>
            <a:endParaRPr lang="en-US" sz="4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Primary correctness goal</a:t>
            </a:r>
            <a:endParaRPr lang="en-US" sz="1400" dirty="0"/>
          </a:p>
        </p:txBody>
      </p:sp>
      <p:sp>
        <p:nvSpPr>
          <p:cNvPr id="16" name="why card"/>
          <p:cNvSpPr/>
          <p:nvPr/>
        </p:nvSpPr>
        <p:spPr>
          <a:xfrm>
            <a:off x="548640" y="4572000"/>
            <a:ext cx="5120640" cy="1600200"/>
          </a:xfrm>
          <a:prstGeom prst="roundRect">
            <a:avLst>
              <a:gd name="adj" fmla="val 6857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46817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9834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10,000 requests read the same stock count at once. A plain read-then-write lets many succeed; an atomic update lets exactly 100 win.</a:t>
            </a:r>
            <a:endParaRPr lang="en-US" sz="1400" dirty="0"/>
          </a:p>
        </p:txBody>
      </p:sp>
      <p:sp>
        <p:nvSpPr>
          <p:cNvPr id="19" name="mechanism card"/>
          <p:cNvSpPr/>
          <p:nvPr/>
        </p:nvSpPr>
        <p:spPr>
          <a:xfrm>
            <a:off x="6035040" y="1371600"/>
            <a:ext cx="2715768" cy="1463040"/>
          </a:xfrm>
          <a:prstGeom prst="roundRect">
            <a:avLst>
              <a:gd name="adj" fmla="val 7500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7220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17220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629400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Atomic inventory update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172200" y="20299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Decrement only if stock remains, in a single operation</a:t>
            </a:r>
            <a:endParaRPr lang="en-US" sz="1300" dirty="0"/>
          </a:p>
        </p:txBody>
      </p:sp>
      <p:sp>
        <p:nvSpPr>
          <p:cNvPr id="24" name="mechanism card"/>
          <p:cNvSpPr/>
          <p:nvPr/>
        </p:nvSpPr>
        <p:spPr>
          <a:xfrm>
            <a:off x="8961120" y="1371600"/>
            <a:ext cx="2715768" cy="1463040"/>
          </a:xfrm>
          <a:prstGeom prst="roundRect">
            <a:avLst>
              <a:gd name="adj" fmla="val 7500"/>
            </a:avLst>
          </a:prstGeom>
          <a:solidFill>
            <a:schemeClr val="accent2">
              <a:alpha val="2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098280" y="15087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9828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555480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Database transactions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9098280" y="20299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Reservation and stock change commit together</a:t>
            </a:r>
            <a:endParaRPr lang="en-US" sz="1300" dirty="0"/>
          </a:p>
        </p:txBody>
      </p:sp>
      <p:sp>
        <p:nvSpPr>
          <p:cNvPr id="29" name="mechanism card"/>
          <p:cNvSpPr/>
          <p:nvPr/>
        </p:nvSpPr>
        <p:spPr>
          <a:xfrm>
            <a:off x="6035040" y="3044952"/>
            <a:ext cx="2715768" cy="1463040"/>
          </a:xfrm>
          <a:prstGeom prst="roundRect">
            <a:avLst>
              <a:gd name="adj" fmla="val 7500"/>
            </a:avLst>
          </a:prstGeom>
          <a:solidFill>
            <a:schemeClr val="accent4">
              <a:alpha val="2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72200" y="3182112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172200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62940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Locking strategy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172200" y="37033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Controls contention on the hottest inventory row</a:t>
            </a:r>
            <a:endParaRPr lang="en-US" sz="1300" dirty="0"/>
          </a:p>
        </p:txBody>
      </p:sp>
      <p:sp>
        <p:nvSpPr>
          <p:cNvPr id="34" name="mechanism card"/>
          <p:cNvSpPr/>
          <p:nvPr/>
        </p:nvSpPr>
        <p:spPr>
          <a:xfrm>
            <a:off x="8961120" y="3044952"/>
            <a:ext cx="2715768" cy="1463040"/>
          </a:xfrm>
          <a:prstGeom prst="roundRect">
            <a:avLst>
              <a:gd name="adj" fmla="val 7500"/>
            </a:avLst>
          </a:prstGeom>
          <a:solidFill>
            <a:schemeClr val="accent5">
              <a:alpha val="2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098280" y="3182112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098280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955548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Idempotency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9098280" y="37033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Same request, same result, never processed twice</a:t>
            </a:r>
            <a:endParaRPr lang="en-US" sz="1300" dirty="0"/>
          </a:p>
        </p:txBody>
      </p:sp>
      <p:sp>
        <p:nvSpPr>
          <p:cNvPr id="39" name="mechanism card"/>
          <p:cNvSpPr/>
          <p:nvPr/>
        </p:nvSpPr>
        <p:spPr>
          <a:xfrm>
            <a:off x="6035040" y="4718304"/>
            <a:ext cx="2715768" cy="1463040"/>
          </a:xfrm>
          <a:prstGeom prst="roundRect">
            <a:avLst>
              <a:gd name="adj" fmla="val 7500"/>
            </a:avLst>
          </a:prstGeom>
          <a:solidFill>
            <a:schemeClr val="accent3">
              <a:alpha val="2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172200" y="485546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172200" y="4855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6629400" y="4828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Reservation mechanism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6172200" y="53766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Stock held for a short window, then confirmed or released</a:t>
            </a:r>
            <a:endParaRPr lang="en-US" sz="1300" dirty="0"/>
          </a:p>
        </p:txBody>
      </p:sp>
      <p:sp>
        <p:nvSpPr>
          <p:cNvPr id="44" name="mechanism card"/>
          <p:cNvSpPr/>
          <p:nvPr/>
        </p:nvSpPr>
        <p:spPr>
          <a:xfrm>
            <a:off x="8961120" y="4718304"/>
            <a:ext cx="2715768" cy="1463040"/>
          </a:xfrm>
          <a:prstGeom prst="roundRect">
            <a:avLst>
              <a:gd name="adj" fmla="val 7500"/>
            </a:avLst>
          </a:prstGeom>
          <a:solidFill>
            <a:schemeClr val="accent6">
              <a:alpha val="2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098280" y="4855464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9098280" y="4855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9555480" y="4828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Consistency guarantees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9098280" y="53766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Invariant validated after every scenario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Lifecycles &amp; Payment Idempotency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0" y="457200"/>
            <a:ext cx="1581912" cy="365760"/>
          </a:xfrm>
          <a:prstGeom prst="roundRect">
            <a:avLst>
              <a:gd name="adj" fmla="val 25000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Ch. 12–13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RESERVATION STATE MACHINE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1828800" cy="594360"/>
          </a:xfrm>
          <a:prstGeom prst="roundRect">
            <a:avLst>
              <a:gd name="adj" fmla="val 15385"/>
            </a:avLst>
          </a:prstGeom>
          <a:solidFill>
            <a:schemeClr val="accent2">
              <a:alpha val="40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AVAILABLE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468880" y="1792224"/>
            <a:ext cx="301752" cy="219456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62072" y="1600200"/>
            <a:ext cx="1828800" cy="594360"/>
          </a:xfrm>
          <a:prstGeom prst="roundRect">
            <a:avLst>
              <a:gd name="adj" fmla="val 15385"/>
            </a:avLst>
          </a:prstGeom>
          <a:solidFill>
            <a:schemeClr val="accent2">
              <a:alpha val="40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RESERVED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82312" y="1792224"/>
            <a:ext cx="301752" cy="219456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175504" y="1600200"/>
            <a:ext cx="1828800" cy="594360"/>
          </a:xfrm>
          <a:prstGeom prst="roundRect">
            <a:avLst>
              <a:gd name="adj" fmla="val 15385"/>
            </a:avLst>
          </a:prstGeom>
          <a:solidFill>
            <a:schemeClr val="accent2">
              <a:alpha val="40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PAYMENT_PENDING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095744" y="1792224"/>
            <a:ext cx="301752" cy="219456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88936" y="1600200"/>
            <a:ext cx="1828800" cy="594360"/>
          </a:xfrm>
          <a:prstGeom prst="roundRect">
            <a:avLst>
              <a:gd name="adj" fmla="val 15385"/>
            </a:avLst>
          </a:prstGeom>
          <a:solidFill>
            <a:schemeClr val="accent2">
              <a:alpha val="40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CONFIRMED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409176" y="1792224"/>
            <a:ext cx="301752" cy="219456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802368" y="1600200"/>
            <a:ext cx="1828800" cy="594360"/>
          </a:xfrm>
          <a:prstGeom prst="roundRect">
            <a:avLst>
              <a:gd name="adj" fmla="val 15385"/>
            </a:avLst>
          </a:prstGeom>
          <a:solidFill>
            <a:schemeClr val="accent2">
              <a:alpha val="40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SOLD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Failure paths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377440" y="2468880"/>
            <a:ext cx="4206240" cy="457200"/>
          </a:xfrm>
          <a:prstGeom prst="roundRect">
            <a:avLst>
              <a:gd name="adj" fmla="val 20000"/>
            </a:avLst>
          </a:prstGeom>
          <a:solidFill>
            <a:schemeClr val="accent3">
              <a:alpha val="40000"/>
            </a:schemeClr>
          </a:solidFill>
          <a:ln w="12700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RESERVED → PAYMENT_FAILED → RELEASED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2468880"/>
            <a:ext cx="4206240" cy="457200"/>
          </a:xfrm>
          <a:prstGeom prst="roundRect">
            <a:avLst>
              <a:gd name="adj" fmla="val 20000"/>
            </a:avLst>
          </a:prstGeom>
          <a:solidFill>
            <a:schemeClr val="accent3">
              <a:alpha val="40000"/>
            </a:schemeClr>
          </a:solidFill>
          <a:ln w="12700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RESERVED → TIMEOUT → RELEASED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ORDER LIFECYCLE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611880"/>
            <a:ext cx="1325880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CREATED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920240" y="3867912"/>
            <a:ext cx="228600" cy="201168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176272" y="3611880"/>
            <a:ext cx="1325880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PAYMENT_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PENDING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547872" y="3867912"/>
            <a:ext cx="228600" cy="201168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803904" y="3611880"/>
            <a:ext cx="1325880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CONFIRMED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175504" y="3867912"/>
            <a:ext cx="228600" cy="201168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431536" y="3611880"/>
            <a:ext cx="1325880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PROCESSING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803136" y="3867912"/>
            <a:ext cx="228600" cy="201168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059168" y="3611880"/>
            <a:ext cx="1325880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SHIPPED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430768" y="3867912"/>
            <a:ext cx="228600" cy="201168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686800" y="3611880"/>
            <a:ext cx="1325880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OUT_FOR_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DELIVERY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0058400" y="3867912"/>
            <a:ext cx="228600" cy="201168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314432" y="3611880"/>
            <a:ext cx="1325880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DELIVERED</a:t>
            </a:r>
            <a:endParaRPr lang="en-US" sz="1200" dirty="0"/>
          </a:p>
        </p:txBody>
      </p:sp>
      <p:sp>
        <p:nvSpPr>
          <p:cNvPr id="32" name="idempotency key card"/>
          <p:cNvSpPr/>
          <p:nvPr/>
        </p:nvSpPr>
        <p:spPr>
          <a:xfrm>
            <a:off x="548640" y="4663440"/>
            <a:ext cx="5394960" cy="1508760"/>
          </a:xfrm>
          <a:prstGeom prst="roundRect">
            <a:avLst>
              <a:gd name="adj" fmla="val 7273"/>
            </a:avLst>
          </a:prstGeom>
          <a:solidFill>
            <a:schemeClr val="accent4">
              <a:alpha val="2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77240" y="4773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IDEMPOTENCY KEY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77240" y="5102352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BUY-USER-8271-PRODUCT-01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777240" y="5715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Duplicate requests → one transaction</a:t>
            </a:r>
            <a:endParaRPr lang="en-US" sz="1500" dirty="0"/>
          </a:p>
        </p:txBody>
      </p:sp>
      <p:sp>
        <p:nvSpPr>
          <p:cNvPr id="36" name="duplicate flow card"/>
          <p:cNvSpPr/>
          <p:nvPr/>
        </p:nvSpPr>
        <p:spPr>
          <a:xfrm>
            <a:off x="6245352" y="4663440"/>
            <a:ext cx="5394960" cy="1508760"/>
          </a:xfrm>
          <a:prstGeom prst="roundRect">
            <a:avLst>
              <a:gd name="adj" fmla="val 7273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73952" y="4773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THREE IDENTICAL BUY REQUESTS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473952" y="50749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Request 1 → Process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Request 2 → Idempotency check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Request 3 → Duplicate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Result: 1 reservation · 1 payment · 1 order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Critical Transactions &amp; Recovery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0" y="457200"/>
            <a:ext cx="1581912" cy="365760"/>
          </a:xfrm>
          <a:prstGeom prst="roundRect">
            <a:avLst>
              <a:gd name="adj" fmla="val 25000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Ch. 10, 14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44752"/>
            <a:ext cx="731520" cy="502920"/>
          </a:xfrm>
          <a:prstGeom prst="roundRect">
            <a:avLst>
              <a:gd name="adj" fmla="val 18182"/>
            </a:avLst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10.1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3716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Successful purchase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Gateway → Inventory → Reservation → Payment → Order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31136"/>
            <a:ext cx="731520" cy="502920"/>
          </a:xfrm>
          <a:prstGeom prst="roundRect">
            <a:avLst>
              <a:gd name="adj" fmla="val 18182"/>
            </a:avLst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10.2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15798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Failed payment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Reservation released, inventory restored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17520"/>
            <a:ext cx="731520" cy="502920"/>
          </a:xfrm>
          <a:prstGeom prst="roundRect">
            <a:avLst>
              <a:gd name="adj" fmla="val 18182"/>
            </a:avLst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10.3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9443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Duplicate buy request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Idempotency check: one reservation, payment, order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803904"/>
            <a:ext cx="731520" cy="502920"/>
          </a:xfrm>
          <a:prstGeom prst="roundRect">
            <a:avLst>
              <a:gd name="adj" fmla="val 18182"/>
            </a:avLst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10.4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373075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Reservation timeout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Expired hold returns to available stock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590288"/>
            <a:ext cx="731520" cy="502920"/>
          </a:xfrm>
          <a:prstGeom prst="roundRect">
            <a:avLst>
              <a:gd name="adj" fmla="val 18182"/>
            </a:avLst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10.5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508760" y="45171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Payment OK, Order service down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Broker → retry queue → order recovered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376672"/>
            <a:ext cx="731520" cy="502920"/>
          </a:xfrm>
          <a:prstGeom prst="roundRect">
            <a:avLst>
              <a:gd name="adj" fmla="val 18182"/>
            </a:avLst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10.6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530352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Inventory exhaustion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Exactly 100 units allocated, however many try</a:t>
            </a:r>
            <a:endParaRPr lang="en-US" sz="1500" dirty="0"/>
          </a:p>
        </p:txBody>
      </p:sp>
      <p:sp>
        <p:nvSpPr>
          <p:cNvPr id="17" name="recovery card"/>
          <p:cNvSpPr/>
          <p:nvPr/>
        </p:nvSpPr>
        <p:spPr>
          <a:xfrm>
            <a:off x="6858000" y="1371600"/>
            <a:ext cx="4782312" cy="4800600"/>
          </a:xfrm>
          <a:prstGeom prst="roundRect">
            <a:avLst>
              <a:gd name="adj" fmla="val 2294"/>
            </a:avLst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0" y="15361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recovery pattern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406640" y="2103120"/>
            <a:ext cx="3657600" cy="420624"/>
          </a:xfrm>
          <a:prstGeom prst="roundRect">
            <a:avLst>
              <a:gd name="adj" fmla="val 21739"/>
            </a:avLst>
          </a:prstGeom>
          <a:solidFill>
            <a:schemeClr val="accent3">
              <a:alpha val="50000"/>
            </a:schemeClr>
          </a:solidFill>
          <a:ln w="12700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Failure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144000" y="2532888"/>
            <a:ext cx="182880" cy="128016"/>
          </a:xfrm>
          <a:prstGeom prst="downArrow">
            <a:avLst/>
          </a:prstGeom>
          <a:solidFill>
            <a:schemeClr val="tx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406640" y="2670048"/>
            <a:ext cx="3657600" cy="420624"/>
          </a:xfrm>
          <a:prstGeom prst="roundRect">
            <a:avLst>
              <a:gd name="adj" fmla="val 21739"/>
            </a:avLst>
          </a:prstGeom>
          <a:solidFill>
            <a:schemeClr val="accent1">
              <a:alpha val="30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Detection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44000" y="3099816"/>
            <a:ext cx="182880" cy="128016"/>
          </a:xfrm>
          <a:prstGeom prst="downArrow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406640" y="3236976"/>
            <a:ext cx="3657600" cy="420624"/>
          </a:xfrm>
          <a:prstGeom prst="roundRect">
            <a:avLst>
              <a:gd name="adj" fmla="val 21739"/>
            </a:avLst>
          </a:prstGeom>
          <a:solidFill>
            <a:schemeClr val="accent1">
              <a:alpha val="30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Retry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144000" y="3666744"/>
            <a:ext cx="182880" cy="128016"/>
          </a:xfrm>
          <a:prstGeom prst="downArrow">
            <a:avLst/>
          </a:prstGeom>
          <a:solidFill>
            <a:schemeClr val="tx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406640" y="3803904"/>
            <a:ext cx="3657600" cy="420624"/>
          </a:xfrm>
          <a:prstGeom prst="roundRect">
            <a:avLst>
              <a:gd name="adj" fmla="val 21739"/>
            </a:avLst>
          </a:prstGeom>
          <a:solidFill>
            <a:schemeClr val="accent1">
              <a:alpha val="30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Queue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144000" y="4233672"/>
            <a:ext cx="182880" cy="128016"/>
          </a:xfrm>
          <a:prstGeom prst="downArrow">
            <a:avLst/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406640" y="4370832"/>
            <a:ext cx="3657600" cy="420624"/>
          </a:xfrm>
          <a:prstGeom prst="roundRect">
            <a:avLst>
              <a:gd name="adj" fmla="val 21739"/>
            </a:avLst>
          </a:prstGeom>
          <a:solidFill>
            <a:schemeClr val="accent1">
              <a:alpha val="30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Recovery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9144000" y="4800600"/>
            <a:ext cx="182880" cy="128016"/>
          </a:xfrm>
          <a:prstGeom prst="downArrow">
            <a:avLst/>
          </a:prstGeom>
          <a:solidFill>
            <a:schemeClr val="tx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406640" y="4937760"/>
            <a:ext cx="3657600" cy="420624"/>
          </a:xfrm>
          <a:prstGeom prst="roundRect">
            <a:avLst>
              <a:gd name="adj" fmla="val 21739"/>
            </a:avLst>
          </a:prstGeom>
          <a:solidFill>
            <a:schemeClr val="accent2">
              <a:alpha val="50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Compensation / Reconciliation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132320" y="5577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Retry · Timeout · Circuit breaker · Dead letter queue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Scale, Security &amp; Observability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0" y="457200"/>
            <a:ext cx="1581912" cy="365760"/>
          </a:xfrm>
          <a:prstGeom prst="roundRect">
            <a:avLst>
              <a:gd name="adj" fmla="val 25000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Ch. 15–17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Traffic scenarios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359152" y="1371600"/>
            <a:ext cx="2148840" cy="548640"/>
          </a:xfrm>
          <a:prstGeom prst="roundRect">
            <a:avLst>
              <a:gd name="adj" fmla="val 16667"/>
            </a:avLst>
          </a:prstGeom>
          <a:solidFill>
            <a:schemeClr val="accent2">
              <a:alpha val="45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Normal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736592" y="1371600"/>
            <a:ext cx="2148840" cy="548640"/>
          </a:xfrm>
          <a:prstGeom prst="roundRect">
            <a:avLst>
              <a:gd name="adj" fmla="val 16667"/>
            </a:avLst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10,000 concurrent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114032" y="1371600"/>
            <a:ext cx="2148840" cy="548640"/>
          </a:xfrm>
          <a:prstGeom prst="roundRect">
            <a:avLst>
              <a:gd name="adj" fmla="val 16667"/>
            </a:avLst>
          </a:prstGeom>
          <a:solidFill>
            <a:schemeClr val="accent4">
              <a:alpha val="45000"/>
            </a:schemeClr>
          </a:solidFill>
          <a:ln w="12700"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50× load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491472" y="1371600"/>
            <a:ext cx="2148840" cy="548640"/>
          </a:xfrm>
          <a:prstGeom prst="roundRect">
            <a:avLst>
              <a:gd name="adj" fmla="val 16667"/>
            </a:avLst>
          </a:prstGeom>
          <a:solidFill>
            <a:schemeClr val="accent3">
              <a:alpha val="45000"/>
            </a:schemeClr>
          </a:solidFill>
          <a:ln w="12700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Sudden bursts</a:t>
            </a:r>
            <a:endParaRPr lang="en-US" sz="1400" dirty="0"/>
          </a:p>
        </p:txBody>
      </p:sp>
      <p:sp>
        <p:nvSpPr>
          <p:cNvPr id="10" name="pillar card"/>
          <p:cNvSpPr/>
          <p:nvPr/>
        </p:nvSpPr>
        <p:spPr>
          <a:xfrm>
            <a:off x="548640" y="2240280"/>
            <a:ext cx="3566160" cy="3840480"/>
          </a:xfrm>
          <a:prstGeom prst="roundRect">
            <a:avLst>
              <a:gd name="adj" fmla="val 3077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688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61747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&amp; Traffic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338328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Horizontal scaling, load balancing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Caching and queueing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Rate limiting and backpressure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Traffic shaping for bursts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Read replicas for the database</a:t>
            </a:r>
            <a:endParaRPr lang="en-US" sz="1600" dirty="0"/>
          </a:p>
        </p:txBody>
      </p:sp>
      <p:sp>
        <p:nvSpPr>
          <p:cNvPr id="15" name="pillar card"/>
          <p:cNvSpPr/>
          <p:nvPr/>
        </p:nvSpPr>
        <p:spPr>
          <a:xfrm>
            <a:off x="4311396" y="2240280"/>
            <a:ext cx="3566160" cy="3840480"/>
          </a:xfrm>
          <a:prstGeom prst="roundRect">
            <a:avLst>
              <a:gd name="adj" fmla="val 3077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85716" y="246888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306" y="261747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62956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Architecture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4585716" y="338328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Authentication and RBAC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HTTPS, WAF, abuse protection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Input validation, API security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Secrets management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Secure payments, audit logging</a:t>
            </a:r>
            <a:endParaRPr lang="en-US" sz="1600" dirty="0"/>
          </a:p>
        </p:txBody>
      </p:sp>
      <p:sp>
        <p:nvSpPr>
          <p:cNvPr id="20" name="pillar card"/>
          <p:cNvSpPr/>
          <p:nvPr/>
        </p:nvSpPr>
        <p:spPr>
          <a:xfrm>
            <a:off x="8074152" y="2240280"/>
            <a:ext cx="3566160" cy="3840480"/>
          </a:xfrm>
          <a:prstGeom prst="roundRect">
            <a:avLst>
              <a:gd name="adj" fmla="val 3077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48472" y="24688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062" y="2617470"/>
            <a:ext cx="297180" cy="2971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25712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8348472" y="338328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Metrics, logs, distributed tracing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P50 / P95 / P99 latency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Error rate and queue depth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Reservation and payment failures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Alerts, health checks, dashboards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Simulation &amp; Command Center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0" y="457200"/>
            <a:ext cx="1581912" cy="365760"/>
          </a:xfrm>
          <a:prstGeom prst="roundRect">
            <a:avLst>
              <a:gd name="adj" fmla="val 25000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Ch. 18–19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outcome: 10,000 customers, 100 units</a:t>
            </a:r>
            <a:endParaRPr lang="en-US" sz="2000" dirty="0"/>
          </a:p>
        </p:txBody>
      </p:sp>
      <p:sp>
        <p:nvSpPr>
          <p:cNvPr id="6" name="stat tile"/>
          <p:cNvSpPr/>
          <p:nvPr/>
        </p:nvSpPr>
        <p:spPr>
          <a:xfrm>
            <a:off x="548640" y="1874520"/>
            <a:ext cx="2834640" cy="1463040"/>
          </a:xfrm>
          <a:prstGeom prst="roundRect">
            <a:avLst>
              <a:gd name="adj" fmla="val 7500"/>
            </a:avLst>
          </a:prstGeom>
          <a:solidFill>
            <a:schemeClr val="accent2">
              <a:alpha val="2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9659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34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Successful reservations</a:t>
            </a:r>
            <a:endParaRPr lang="en-US" sz="1400" dirty="0"/>
          </a:p>
        </p:txBody>
      </p:sp>
      <p:sp>
        <p:nvSpPr>
          <p:cNvPr id="9" name="stat tile"/>
          <p:cNvSpPr/>
          <p:nvPr/>
        </p:nvSpPr>
        <p:spPr>
          <a:xfrm>
            <a:off x="3566160" y="1874520"/>
            <a:ext cx="2834640" cy="1463040"/>
          </a:xfrm>
          <a:prstGeom prst="roundRect">
            <a:avLst>
              <a:gd name="adj" fmla="val 7500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66160" y="19659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9,900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2834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Failed reservations</a:t>
            </a:r>
            <a:endParaRPr lang="en-US" sz="1400" dirty="0"/>
          </a:p>
        </p:txBody>
      </p:sp>
      <p:sp>
        <p:nvSpPr>
          <p:cNvPr id="12" name="stat tile"/>
          <p:cNvSpPr/>
          <p:nvPr/>
        </p:nvSpPr>
        <p:spPr>
          <a:xfrm>
            <a:off x="548640" y="35204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1">
              <a:alpha val="2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4480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Overselling</a:t>
            </a:r>
            <a:endParaRPr lang="en-US" sz="1300" dirty="0"/>
          </a:p>
        </p:txBody>
      </p:sp>
      <p:sp>
        <p:nvSpPr>
          <p:cNvPr id="15" name="stat tile"/>
          <p:cNvSpPr/>
          <p:nvPr/>
        </p:nvSpPr>
        <p:spPr>
          <a:xfrm>
            <a:off x="2560320" y="35204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>
              <a:alpha val="2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560320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7" name="Text 14"/>
          <p:cNvSpPr txBox="1"/>
          <p:nvPr/>
        </p:nvSpPr>
        <p:spPr>
          <a:xfrm>
            <a:off x="2606040" y="4480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Duplicate payments</a:t>
            </a:r>
            <a:endParaRPr lang="en-US" sz="1300" dirty="0"/>
          </a:p>
        </p:txBody>
      </p:sp>
      <p:sp>
        <p:nvSpPr>
          <p:cNvPr id="18" name="stat tile"/>
          <p:cNvSpPr/>
          <p:nvPr/>
        </p:nvSpPr>
        <p:spPr>
          <a:xfrm>
            <a:off x="4572000" y="35204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5">
              <a:alpha val="2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0" y="3611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20" name="Text 17"/>
          <p:cNvSpPr txBox="1"/>
          <p:nvPr/>
        </p:nvSpPr>
        <p:spPr>
          <a:xfrm>
            <a:off x="4617720" y="4480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Duplicate orders</a:t>
            </a:r>
            <a:endParaRPr lang="en-US" sz="1300" dirty="0"/>
          </a:p>
        </p:txBody>
      </p:sp>
      <p:sp>
        <p:nvSpPr>
          <p:cNvPr id="21" name="flow card"/>
          <p:cNvSpPr/>
          <p:nvPr/>
        </p:nvSpPr>
        <p:spPr>
          <a:xfrm>
            <a:off x="548640" y="5212080"/>
            <a:ext cx="5852160" cy="960120"/>
          </a:xfrm>
          <a:prstGeom prst="roundRect">
            <a:avLst>
              <a:gd name="adj" fmla="val 11429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28523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Traffic generation → concurrent requests → inventory contention → reservation → result collection → correctness validation</a:t>
            </a:r>
            <a:endParaRPr lang="en-US" sz="1400" dirty="0"/>
          </a:p>
        </p:txBody>
      </p:sp>
      <p:sp>
        <p:nvSpPr>
          <p:cNvPr id="23" name="command center card"/>
          <p:cNvSpPr/>
          <p:nvPr/>
        </p:nvSpPr>
        <p:spPr>
          <a:xfrm>
            <a:off x="6766560" y="1371600"/>
            <a:ext cx="4873752" cy="4800600"/>
          </a:xfrm>
          <a:prstGeom prst="roundRect">
            <a:avLst>
              <a:gd name="adj" fmla="val 2286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040880" y="15361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Command Center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196596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Not an e-commerce admin dashboard. A console to observe, test and demonstrate the system.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2880360"/>
            <a:ext cx="210312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35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Live Traffic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281160" y="2880360"/>
            <a:ext cx="2103120" cy="475488"/>
          </a:xfrm>
          <a:prstGeom prst="roundRect">
            <a:avLst>
              <a:gd name="adj" fmla="val 19231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Inventory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3502152"/>
            <a:ext cx="210312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35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Reservations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9281160" y="3502152"/>
            <a:ext cx="2103120" cy="475488"/>
          </a:xfrm>
          <a:prstGeom prst="roundRect">
            <a:avLst>
              <a:gd name="adj" fmla="val 19231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Payments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123944"/>
            <a:ext cx="210312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35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Orders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281160" y="4123944"/>
            <a:ext cx="2103120" cy="475488"/>
          </a:xfrm>
          <a:prstGeom prst="roundRect">
            <a:avLst>
              <a:gd name="adj" fmla="val 19231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Architecture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040880" y="4745736"/>
            <a:ext cx="210312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35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Failure Lab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9281160" y="4745736"/>
            <a:ext cx="2103120" cy="475488"/>
          </a:xfrm>
          <a:prstGeom prst="roundRect">
            <a:avLst>
              <a:gd name="adj" fmla="val 19231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Observability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7040880" y="5367528"/>
            <a:ext cx="210312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35000"/>
            </a:schemeClr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Decision Log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9281160" y="5367528"/>
            <a:ext cx="2103120" cy="475488"/>
          </a:xfrm>
          <a:prstGeom prst="roundRect">
            <a:avLst>
              <a:gd name="adj" fmla="val 19231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Simulation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Stack, Testing, Trade-offs &amp; Roadmap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0058400" y="457200"/>
            <a:ext cx="1581912" cy="365760"/>
          </a:xfrm>
          <a:prstGeom prst="roundRect">
            <a:avLst>
              <a:gd name="adj" fmla="val 25000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Ch. 20–24</a:t>
            </a:r>
            <a:endParaRPr lang="en-US" sz="1200" dirty="0"/>
          </a:p>
        </p:txBody>
      </p:sp>
      <p:sp>
        <p:nvSpPr>
          <p:cNvPr id="5" name="wrap card"/>
          <p:cNvSpPr/>
          <p:nvPr/>
        </p:nvSpPr>
        <p:spPr>
          <a:xfrm>
            <a:off x="548640" y="1371600"/>
            <a:ext cx="3566160" cy="2788920"/>
          </a:xfrm>
          <a:prstGeom prst="roundRect">
            <a:avLst>
              <a:gd name="adj" fmla="val 3934"/>
            </a:avLst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5361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661922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15361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1945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Next.js, React, TypeScript, Tailwind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Node.js, REST, WebSocket / SSE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PostgreSQL, Redis, broker abstraction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Implemented vs simulated stated clearly</a:t>
            </a:r>
            <a:endParaRPr lang="en-US" sz="1400" dirty="0"/>
          </a:p>
        </p:txBody>
      </p:sp>
      <p:sp>
        <p:nvSpPr>
          <p:cNvPr id="10" name="wrap card"/>
          <p:cNvSpPr/>
          <p:nvPr/>
        </p:nvSpPr>
        <p:spPr>
          <a:xfrm>
            <a:off x="4311396" y="1371600"/>
            <a:ext cx="3566160" cy="2788920"/>
          </a:xfrm>
          <a:prstGeom prst="roundRect">
            <a:avLst>
              <a:gd name="adj" fmla="val 3934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39996" y="153619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726" y="1661922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80076" y="15361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4539996" y="21945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Functional, concurrency, failure, load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Max 100 sales, never negative stock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Duplicate buy and payment, timeouts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Inventory invariant checked</a:t>
            </a:r>
            <a:endParaRPr lang="en-US" sz="1400" dirty="0"/>
          </a:p>
        </p:txBody>
      </p:sp>
      <p:sp>
        <p:nvSpPr>
          <p:cNvPr id="15" name="wrap card"/>
          <p:cNvSpPr/>
          <p:nvPr/>
        </p:nvSpPr>
        <p:spPr>
          <a:xfrm>
            <a:off x="8074152" y="1371600"/>
            <a:ext cx="3566160" cy="2788920"/>
          </a:xfrm>
          <a:prstGeom prst="roundRect">
            <a:avLst>
              <a:gd name="adj" fmla="val 3934"/>
            </a:avLst>
          </a:prstGeom>
          <a:solidFill>
            <a:schemeClr val="accent4">
              <a:alpha val="18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02752" y="1536192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482" y="1661922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42832" y="15361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Trade-offs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302752" y="21945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SQL vs NoSQL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Optimistic vs pessimistic concurrency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Atomic vs normal update, sync vs async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Options → pros/cons → choice → reason</a:t>
            </a:r>
            <a:endParaRPr lang="en-US" sz="1400" dirty="0"/>
          </a:p>
        </p:txBody>
      </p:sp>
      <p:sp>
        <p:nvSpPr>
          <p:cNvPr id="20" name="conclusion card"/>
          <p:cNvSpPr/>
          <p:nvPr/>
        </p:nvSpPr>
        <p:spPr>
          <a:xfrm>
            <a:off x="548640" y="4389120"/>
            <a:ext cx="5440680" cy="1783080"/>
          </a:xfrm>
          <a:prstGeom prst="roundRect">
            <a:avLst>
              <a:gd name="adj" fmla="val 6154"/>
            </a:avLst>
          </a:prstGeom>
          <a:solidFill>
            <a:schemeClr val="accent3">
              <a:alpha val="2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77240" y="44988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the zero-oversell guarantee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93776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10,000 buyers · 100 units · 0 overselling · 0 duplicate payments · 0 duplicate orders · reliable recovery · observable architecture</a:t>
            </a:r>
            <a:endParaRPr lang="en-US" sz="1600" dirty="0"/>
          </a:p>
        </p:txBody>
      </p:sp>
      <p:sp>
        <p:nvSpPr>
          <p:cNvPr id="23" name="roadmap card"/>
          <p:cNvSpPr/>
          <p:nvPr/>
        </p:nvSpPr>
        <p:spPr>
          <a:xfrm>
            <a:off x="6199632" y="4389120"/>
            <a:ext cx="5440680" cy="1783080"/>
          </a:xfrm>
          <a:prstGeom prst="roundRect">
            <a:avLst>
              <a:gd name="adj" fmla="val 6154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428232" y="44988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 (not implemented)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428232" y="493776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Kubernetes and distributed deployment · real Kafka cluster · advanced autoscaling · real payment gateway · fraud detection · multi-region · AI traffic prediction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ashGuard Light">
  <a:themeElements>
    <a:clrScheme name="FlashGuard Light">
      <a:dk1>
        <a:srgbClr val="1F2A44"/>
      </a:dk1>
      <a:lt1>
        <a:srgbClr val="FFFFFF"/>
      </a:lt1>
      <a:dk2>
        <a:srgbClr val="4A5A78"/>
      </a:dk2>
      <a:lt2>
        <a:srgbClr val="F3F8FC"/>
      </a:lt2>
      <a:accent1>
        <a:srgbClr val="5B9BD5"/>
      </a:accent1>
      <a:accent2>
        <a:srgbClr val="6BBFA8"/>
      </a:accent2>
      <a:accent3>
        <a:srgbClr val="F0987A"/>
      </a:accent3>
      <a:accent4>
        <a:srgbClr val="F2C46D"/>
      </a:accent4>
      <a:accent5>
        <a:srgbClr val="A99BDD"/>
      </a:accent5>
      <a:accent6>
        <a:srgbClr val="8FC6E8"/>
      </a:accent6>
      <a:hlink>
        <a:srgbClr val="4A8BC2"/>
      </a:hlink>
      <a:folHlink>
        <a:srgbClr val="A99BDD"/>
      </a:folHlink>
    </a:clrScheme>
    <a:fontScheme name="FlashGuard L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SALESTORM — FlashGuard</dc:title>
  <dc:subject>PptxGenJS Presentation</dc:subject>
  <dc:creator>SALESTORM</dc:creator>
  <cp:lastModifiedBy>SALESTORM</cp:lastModifiedBy>
  <cp:revision>1</cp:revision>
  <dcterms:created xsi:type="dcterms:W3CDTF">2026-10-10T03:37:01Z</dcterms:created>
  <dcterms:modified xsi:type="dcterms:W3CDTF">2026-10-10T03:37:01Z</dcterms:modified>
</cp:coreProperties>
</file>